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3" r:id="rId5"/>
    <p:sldId id="262" r:id="rId6"/>
    <p:sldId id="263" r:id="rId7"/>
    <p:sldId id="272" r:id="rId8"/>
    <p:sldId id="273" r:id="rId9"/>
    <p:sldId id="274" r:id="rId10"/>
    <p:sldId id="275" r:id="rId11"/>
    <p:sldId id="276" r:id="rId12"/>
    <p:sldId id="277" r:id="rId13"/>
    <p:sldId id="270" r:id="rId14"/>
    <p:sldId id="278" r:id="rId15"/>
    <p:sldId id="279" r:id="rId16"/>
    <p:sldId id="261" r:id="rId17"/>
    <p:sldId id="280" r:id="rId18"/>
    <p:sldId id="281" r:id="rId19"/>
    <p:sldId id="282" r:id="rId20"/>
    <p:sldId id="259" r:id="rId21"/>
    <p:sldId id="260" r:id="rId22"/>
    <p:sldId id="268" r:id="rId23"/>
    <p:sldId id="265" r:id="rId24"/>
    <p:sldId id="266" r:id="rId25"/>
    <p:sldId id="267" r:id="rId26"/>
    <p:sldId id="2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48" d="100"/>
          <a:sy n="148" d="100"/>
        </p:scale>
        <p:origin x="852" y="-34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62E13-6ED4-4FA2-81BA-C52AE6348C1A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8B7B1-B1E8-4524-905E-8E7C4A1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08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PySpark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loads the data from disk and processes it in memory, and keeps the data in memory; this is the main difference between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PySpark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and MapReduce (I/O intensive). In between the transformations, we can also cache/persists the RDD in memory to reuse the previous computations.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8B7B1-B1E8-4524-905E-8E7C4A1DF2B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55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 production applications, we mostly create RDD by using external storage systems like </a:t>
            </a:r>
            <a:r>
              <a:rPr lang="en-US" dirty="0"/>
              <a:t>HDFS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dirty="0"/>
              <a:t>S3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dirty="0"/>
              <a:t>HBase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e.t.c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 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8B7B1-B1E8-4524-905E-8E7C4A1DF2B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260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EB56-B31D-391F-2182-BE2029FBC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2BFF5-A7F2-477A-FD24-BFD27D3A5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52FA0-56C5-7820-D354-D1B7ACA0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60DCB-1285-C4D9-BBAB-45B0E42E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3C25D-4D9F-F7B1-000D-13C9CED4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48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3ACE-972A-A30F-A09D-C0F071DB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0639-8100-DFB1-81E7-3DBAE6FD7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D891B-D45C-18DC-5625-C1411135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EA75-5B77-1AE5-B205-E6954D9B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AC60F-14D0-8DD4-EB3A-C35D70DF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21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9E87-A0FF-38B2-36B5-9DAB779C7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A28C-65AA-BEA2-CE65-61DFA136E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E502C-F6E3-9273-549D-858354C8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BE82-5115-1D26-6D18-2E883788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A0CAA-7F49-D256-214E-22F8C4AD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579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9101-5C42-882B-5C08-7B4815B6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4556-0B70-1DB7-6643-E863826BC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03692-2DCE-6942-76CB-695139872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0890B-BA1D-9213-2486-A1D12FFC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FA712-B438-47E3-C13E-3A85852D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F79D-DFCA-46CF-9F25-845A5EAA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60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3490-BBDD-A0EA-8A7A-C2492D27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66611-DEC0-4DAF-0B83-B762511EB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74D0-1A03-AAA7-4072-08A745A8D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4DB41B-56C2-3BB0-6452-D10A163E3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4CC53-C1DA-B7ED-C5E6-F25B91A9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3C322-A4C5-3B1E-618A-EC29874B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DCC54-1AD4-6062-8CD4-041B639D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32D3F-D090-3220-E39E-607924A0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3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6B54-B3EB-0811-3AE5-6CAD72D6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DD6B9-05F3-6549-F6F9-F71540DF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E5FBA-C12A-9C25-E518-A26DF60A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63D04-4189-D15A-DDF4-E3C91552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33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DC3550-7C97-92A8-2CBE-0F4A0103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C4743-570D-8476-C37E-74A73EEB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13D8F-1153-1ED5-B61C-5C00D435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31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DB445-D76D-F532-9468-2E79D945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1DB7-98B9-86C5-2D96-8591CBCF4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029EF-9378-2B8D-2C9B-A9302A031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59BFD-6237-6DDA-ED2D-6366AFAB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13773-6271-7112-E27E-DC1DE368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7C26B-A125-9875-475F-5A43769A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1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702D-6C07-8DAD-42DA-E76AD370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8F8AE-7AC8-513C-EB65-A918937EC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BEC7A-B16A-A7DF-B607-B569C731E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02EF-49B1-7EC7-0FD3-A3747534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268FB-0043-CB7B-6027-199DB622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D4A56-6BE6-B1A9-9EF0-9C98F755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6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5716-A28A-5CB5-B723-08520D44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25865-C2A0-817B-B816-A0C1CCCD9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2D6B-1FA3-F924-2396-6AFCF2D5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2A1E2-DF73-90C7-0C5F-85A0756D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67ED-D44B-CA68-F493-64A03EDE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89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A18FC-84DA-BF96-5E0C-4DA0BAF44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CD11E-557C-AD1D-CA10-DD5202519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9989F-FD38-5B8B-703E-BF2EE555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1ECE-9E1D-C3FD-D627-C5C04175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EFDAE-3F8D-C262-0A00-D3125D43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49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CDD16-AE8A-2E8D-71CC-432396DD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8EE37-364A-F994-AF0E-90EAED20F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468AE-CE75-2808-3FAA-5E126388B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018C3-5086-4E49-9A60-3CCF3D602A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7AB5-E8A6-4BD0-282F-6A73CD2D3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94E59-6A97-07A8-F44C-3F4DE1305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55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CFD2-BC05-FE08-2E03-029C2A39D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BD3B6-878D-FF9A-9DFF-1EDC97FB28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/>
              <a:t>Palani Karthikeyan</a:t>
            </a:r>
          </a:p>
        </p:txBody>
      </p:sp>
    </p:spTree>
    <p:extLst>
      <p:ext uri="{BB962C8B-B14F-4D97-AF65-F5344CB8AC3E}">
        <p14:creationId xmlns:p14="http://schemas.microsoft.com/office/powerpoint/2010/main" val="391175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AA47-6EE4-2F75-BB50-60F7A6D4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FF99B-1DE3-3EF5-E0E9-010D3394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Apache Spark is a general distributed in-memory computing framework.</a:t>
            </a: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It provides a unified platform for processing and analyzing big data.</a:t>
            </a:r>
          </a:p>
          <a:p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PySpark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is a Python library that allows us to easily interface with Apache Spark. </a:t>
            </a:r>
          </a:p>
          <a:p>
            <a:r>
              <a:rPr lang="en-US" dirty="0"/>
              <a:t>Apache Spark is written in Scala and provides APIs in Scala, Java, Python (</a:t>
            </a:r>
            <a:r>
              <a:rPr lang="en-US" dirty="0" err="1"/>
              <a:t>PySpark</a:t>
            </a:r>
            <a:r>
              <a:rPr lang="en-US" dirty="0"/>
              <a:t>), and 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256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B193-9056-01B6-33B8-022A769E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A5EF-115E-BE9B-591D-293ED9414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is the </a:t>
            </a:r>
            <a:r>
              <a:rPr lang="en-US" b="1" dirty="0"/>
              <a:t>Python API for Apache Spark</a:t>
            </a:r>
            <a:r>
              <a:rPr lang="en-US" dirty="0"/>
              <a:t>. </a:t>
            </a:r>
          </a:p>
          <a:p>
            <a:r>
              <a:rPr lang="en-US" dirty="0"/>
              <a:t>It allows you to interface with Spark’s distributed computation framework using Python.</a:t>
            </a:r>
          </a:p>
          <a:p>
            <a:r>
              <a:rPr lang="en-US" dirty="0"/>
              <a:t>It easier to work with big data.</a:t>
            </a:r>
          </a:p>
          <a:p>
            <a:r>
              <a:rPr lang="en-US" dirty="0" err="1"/>
              <a:t>PySpark</a:t>
            </a:r>
            <a:r>
              <a:rPr lang="en-US" dirty="0"/>
              <a:t> is used for processing large-scale datasets in real-time across a distributed computing environment using Python.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7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FA1D4C-9875-44E5-8DF2-05642748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23" y="868680"/>
            <a:ext cx="11059785" cy="50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4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A347-9618-BD91-B240-C45257B2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var(--ff-lato)"/>
              </a:rPr>
              <a:t>Features of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ar(--ff-lato)"/>
              </a:rPr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27CC-0531-BA5B-1D36-938B8D881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Integration with Spark</a:t>
            </a:r>
          </a:p>
          <a:p>
            <a:r>
              <a:rPr lang="en-US" dirty="0"/>
              <a:t>Real-time Processing with large-scale datasets</a:t>
            </a:r>
          </a:p>
          <a:p>
            <a:r>
              <a:rPr lang="en-US" dirty="0"/>
              <a:t>Ease of Use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Data Sources </a:t>
            </a:r>
            <a:r>
              <a:rPr lang="en-US" sz="2400" dirty="0"/>
              <a:t>− </a:t>
            </a:r>
            <a:r>
              <a:rPr lang="en-US" sz="2400" dirty="0" err="1"/>
              <a:t>PySpark</a:t>
            </a:r>
            <a:r>
              <a:rPr lang="en-US" sz="2400" dirty="0"/>
              <a:t> can read data from various sources, including HDFS, S3, HBase, and more</a:t>
            </a:r>
            <a:r>
              <a:rPr lang="en-US" dirty="0"/>
              <a:t>.</a:t>
            </a:r>
          </a:p>
          <a:p>
            <a:r>
              <a:rPr lang="en-US" dirty="0"/>
              <a:t>Partitioning − </a:t>
            </a:r>
            <a:r>
              <a:rPr lang="en-US" sz="2400" dirty="0"/>
              <a:t>Efficiently partitions data to enhance processing speed and efficiency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12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81D0-FC5C-4381-2E02-CAAC7687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</a:t>
            </a:r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D642A-713E-7F72-BDEA-8F7EFE5C5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Data Streaming</a:t>
            </a:r>
          </a:p>
          <a:p>
            <a:r>
              <a:rPr lang="en-US" dirty="0"/>
              <a:t>Data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98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7C3D-4064-5D5C-852A-05EFDD8B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Spark works?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602ED-7B74-95E0-CC53-25578CE4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25" y="1849218"/>
            <a:ext cx="6957207" cy="389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9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74CE22-21D9-0F5D-7B20-4411791D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06" y="963480"/>
            <a:ext cx="10390027" cy="493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7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168DFE-4CE2-C19F-DD21-0F0DEEB8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47" y="1054710"/>
            <a:ext cx="10334210" cy="502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7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7012-CEDB-4E7D-79E1-6E8BA68C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241"/>
            <a:ext cx="10515600" cy="4351338"/>
          </a:xfrm>
        </p:spPr>
        <p:txBody>
          <a:bodyPr/>
          <a:lstStyle/>
          <a:p>
            <a:r>
              <a:rPr lang="en-IN" dirty="0"/>
              <a:t>Instructor – Driver</a:t>
            </a:r>
          </a:p>
          <a:p>
            <a:r>
              <a:rPr lang="en-IN" dirty="0"/>
              <a:t>Each Person(group) – Executor – executors are </a:t>
            </a:r>
            <a:r>
              <a:rPr lang="en-IN" dirty="0" err="1"/>
              <a:t>jvm</a:t>
            </a:r>
            <a:endParaRPr lang="en-IN" dirty="0"/>
          </a:p>
          <a:p>
            <a:r>
              <a:rPr lang="en-IN" dirty="0"/>
              <a:t>Count – task ( each individual task )</a:t>
            </a:r>
          </a:p>
          <a:p>
            <a:r>
              <a:rPr lang="en-IN" dirty="0"/>
              <a:t>Count </a:t>
            </a:r>
          </a:p>
          <a:p>
            <a:r>
              <a:rPr lang="en-IN" dirty="0"/>
              <a:t>    |-&gt; local count |-&gt;global count  - 2 stages</a:t>
            </a:r>
          </a:p>
        </p:txBody>
      </p:sp>
    </p:spTree>
    <p:extLst>
      <p:ext uri="{BB962C8B-B14F-4D97-AF65-F5344CB8AC3E}">
        <p14:creationId xmlns:p14="http://schemas.microsoft.com/office/powerpoint/2010/main" val="300767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26C9E7-ACC1-5C78-9FAB-DD81090A4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59" y="1474982"/>
            <a:ext cx="10744200" cy="440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8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4208-2914-CA73-6EC8-8353C794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F2DBE-B3DA-B55F-671F-19B82C527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allow every executors to work parallelly, spark breaks down the data in to chunks  - called partition </a:t>
            </a:r>
          </a:p>
          <a:p>
            <a:r>
              <a:rPr lang="en-IN" dirty="0"/>
              <a:t>Last example  - our Box is a partition – </a:t>
            </a:r>
            <a:r>
              <a:rPr lang="en-IN" dirty="0">
                <a:solidFill>
                  <a:srgbClr val="C00000"/>
                </a:solidFill>
              </a:rPr>
              <a:t>4 Partitions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IN" dirty="0">
              <a:solidFill>
                <a:srgbClr val="C00000"/>
              </a:solidFill>
            </a:endParaRPr>
          </a:p>
          <a:p>
            <a:r>
              <a:rPr lang="en-IN" sz="2400" dirty="0">
                <a:solidFill>
                  <a:srgbClr val="C00000"/>
                </a:solidFill>
              </a:rPr>
              <a:t>The 4 Partitions of data execute parallelly </a:t>
            </a:r>
            <a:endParaRPr lang="en-IN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5FC13-1506-F51B-01F5-F87C7D05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34" y="3136688"/>
            <a:ext cx="3005750" cy="17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17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A6417B-C04F-F95C-A371-BE3B6C2DC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262" y="1224535"/>
            <a:ext cx="9839984" cy="553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47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96289-4F1E-DC1E-3362-B9BF26986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202D9-C9B9-8450-4052-334C21B46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Transformation is helps to build logical plan </a:t>
            </a:r>
          </a:p>
          <a:p>
            <a:r>
              <a:rPr lang="en-IN" dirty="0"/>
              <a:t>There are two types of transformations</a:t>
            </a:r>
          </a:p>
          <a:p>
            <a:pPr lvl="1"/>
            <a:r>
              <a:rPr lang="en-IN" dirty="0"/>
              <a:t>Narrow</a:t>
            </a:r>
          </a:p>
          <a:p>
            <a:pPr lvl="1"/>
            <a:r>
              <a:rPr lang="en-IN" dirty="0"/>
              <a:t>Wide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2B3D1-CD60-3344-C84B-697F3C746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26" y="3261554"/>
            <a:ext cx="4536584" cy="323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2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A666-AD4C-4550-17D0-A48BCB3D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F9E47-5B14-1E10-3DCC-F8DE1A836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Trigger the execution we need to call an action </a:t>
            </a:r>
          </a:p>
          <a:p>
            <a:r>
              <a:rPr lang="en-IN" dirty="0"/>
              <a:t>Execute the plan created by transformation</a:t>
            </a:r>
          </a:p>
          <a:p>
            <a:r>
              <a:rPr lang="en-IN" dirty="0"/>
              <a:t>Actions are 3 types:</a:t>
            </a:r>
          </a:p>
          <a:p>
            <a:pPr lvl="1"/>
            <a:r>
              <a:rPr lang="en-IN" dirty="0"/>
              <a:t>View the data</a:t>
            </a:r>
          </a:p>
          <a:p>
            <a:pPr lvl="1"/>
            <a:r>
              <a:rPr lang="en-IN" dirty="0"/>
              <a:t>Collect data to native language</a:t>
            </a:r>
          </a:p>
          <a:p>
            <a:pPr lvl="1"/>
            <a:r>
              <a:rPr lang="en-IN" dirty="0"/>
              <a:t>Write data to output data sources</a:t>
            </a:r>
          </a:p>
        </p:txBody>
      </p:sp>
    </p:spTree>
    <p:extLst>
      <p:ext uri="{BB962C8B-B14F-4D97-AF65-F5344CB8AC3E}">
        <p14:creationId xmlns:p14="http://schemas.microsoft.com/office/powerpoint/2010/main" val="284666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93F8-B4DD-D796-1656-B002DDC1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 of </a:t>
            </a:r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364E-E130-8C4E-7A67-A683D938E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RDDs (Resilient Distributed Datasets) </a:t>
            </a:r>
          </a:p>
          <a:p>
            <a:r>
              <a:rPr lang="en-US" dirty="0"/>
              <a:t>Data Frames </a:t>
            </a:r>
          </a:p>
          <a:p>
            <a:r>
              <a:rPr lang="en-US" dirty="0"/>
              <a:t>Spark SQL</a:t>
            </a:r>
          </a:p>
          <a:p>
            <a:r>
              <a:rPr lang="en-US" dirty="0"/>
              <a:t>MLlib (Machine Learning Library)</a:t>
            </a:r>
          </a:p>
          <a:p>
            <a:r>
              <a:rPr lang="en-US" dirty="0"/>
              <a:t>Spark Streaming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40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1126-F8C3-8E49-1673-8F4E6444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Spark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4F2D8-B506-F60D-B374-B6FC4662E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driver (Instructor) process is known as spark session</a:t>
            </a:r>
          </a:p>
          <a:p>
            <a:r>
              <a:rPr lang="en-IN" dirty="0"/>
              <a:t>It is entry point for spark session</a:t>
            </a:r>
          </a:p>
          <a:p>
            <a:r>
              <a:rPr lang="en-IN" dirty="0"/>
              <a:t>The spark session instance executes the code in the cluster</a:t>
            </a:r>
          </a:p>
          <a:p>
            <a:r>
              <a:rPr lang="en-IN" dirty="0"/>
              <a:t>The relation 1 to 1 </a:t>
            </a:r>
            <a:r>
              <a:rPr lang="en-IN" sz="2400" dirty="0"/>
              <a:t>(i.e., 1 spark application have 1 spark session)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0503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D3BD-872D-25DB-03A4-70EF5186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API - </a:t>
            </a:r>
            <a:r>
              <a:rPr lang="en-IN" dirty="0" err="1"/>
              <a:t>DataFrame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C4FBD-4842-4B71-F851-3C319A128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DataFrame</a:t>
            </a:r>
            <a:r>
              <a:rPr lang="en-IN" dirty="0"/>
              <a:t> – Table </a:t>
            </a:r>
          </a:p>
          <a:p>
            <a:r>
              <a:rPr lang="en-IN" dirty="0" err="1"/>
              <a:t>DataFrame</a:t>
            </a:r>
            <a:r>
              <a:rPr lang="en-IN" dirty="0"/>
              <a:t> has schema – meta data for columns </a:t>
            </a:r>
          </a:p>
          <a:p>
            <a:r>
              <a:rPr lang="en-IN" dirty="0" err="1"/>
              <a:t>DataFrame</a:t>
            </a:r>
            <a:r>
              <a:rPr lang="en-IN" dirty="0"/>
              <a:t> are immutable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496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24C3-D530-2FA9-C2A2-1CBCBCC9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Frame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C368D-0F8A-0050-887B-411CA7404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11" y="2336556"/>
            <a:ext cx="95154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58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EE2C-3110-3D28-9F38-F6F78A3D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10D58-EEA8-7F0C-A6B0-0348926DB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RDD (Resilient Distributed Dataset) </a:t>
            </a:r>
            <a:r>
              <a:rPr lang="en-US" dirty="0"/>
              <a:t>is a core building block of </a:t>
            </a:r>
            <a:r>
              <a:rPr lang="en-US" dirty="0" err="1"/>
              <a:t>PySpark</a:t>
            </a:r>
            <a:r>
              <a:rPr lang="en-US" dirty="0"/>
              <a:t>. </a:t>
            </a:r>
          </a:p>
          <a:p>
            <a:r>
              <a:rPr lang="en-US" dirty="0"/>
              <a:t>It is a fault-tolerant, immutable, distributed collection of objects.</a:t>
            </a:r>
          </a:p>
          <a:p>
            <a:r>
              <a:rPr lang="en-US" dirty="0"/>
              <a:t>Immutable means that once you create an RDD, you cannot change it.</a:t>
            </a:r>
          </a:p>
          <a:p>
            <a:r>
              <a:rPr lang="en-US" dirty="0"/>
              <a:t>The data within RDDs is segmented into </a:t>
            </a:r>
            <a:r>
              <a:rPr lang="en-US" b="1" dirty="0"/>
              <a:t>logical partitions</a:t>
            </a:r>
            <a:r>
              <a:rPr lang="en-US" dirty="0"/>
              <a:t>, allowing for distributed computation across multiple nodes within the cluster.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120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0AA8-D5E3-E27F-5779-2AC0AF0D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PySpark</a:t>
            </a:r>
            <a:r>
              <a:rPr lang="en-IN" dirty="0"/>
              <a:t> – RDD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C97BB-B20D-328E-5ED1-2D0AAD47F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In-Memory Processing</a:t>
            </a:r>
          </a:p>
          <a:p>
            <a:r>
              <a:rPr lang="en-IN" dirty="0"/>
              <a:t>Immutability</a:t>
            </a:r>
          </a:p>
          <a:p>
            <a:r>
              <a:rPr lang="en-IN" dirty="0"/>
              <a:t>Fault Tolerance</a:t>
            </a:r>
          </a:p>
          <a:p>
            <a:r>
              <a:rPr lang="en-IN" dirty="0"/>
              <a:t>Lazy Evolution</a:t>
            </a:r>
          </a:p>
          <a:p>
            <a:r>
              <a:rPr lang="en-IN" dirty="0"/>
              <a:t>Partitioning</a:t>
            </a:r>
          </a:p>
        </p:txBody>
      </p:sp>
    </p:spTree>
    <p:extLst>
      <p:ext uri="{BB962C8B-B14F-4D97-AF65-F5344CB8AC3E}">
        <p14:creationId xmlns:p14="http://schemas.microsoft.com/office/powerpoint/2010/main" val="2696177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5333-DF00-1615-C970-5980E72F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To create a </a:t>
            </a:r>
            <a:r>
              <a:rPr lang="en-US" dirty="0" err="1"/>
              <a:t>PySpark</a:t>
            </a:r>
            <a:r>
              <a:rPr lang="en-US" dirty="0"/>
              <a:t> RDD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44E29-FD2E-CC73-0BC5-874F99BCB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Create RDD from parallelize    </a:t>
            </a:r>
          </a:p>
          <a:p>
            <a:r>
              <a:rPr lang="en-IN" dirty="0"/>
              <a:t>data = [1,2,3,4,5,6,7,8,9,10,11,12,13,14,15]</a:t>
            </a:r>
          </a:p>
          <a:p>
            <a:r>
              <a:rPr lang="en-IN" dirty="0" err="1"/>
              <a:t>rdd</a:t>
            </a:r>
            <a:r>
              <a:rPr lang="en-IN" dirty="0"/>
              <a:t> = </a:t>
            </a:r>
            <a:r>
              <a:rPr lang="en-IN" dirty="0" err="1"/>
              <a:t>spark.sparkContext.parallelize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/>
              <a:t># Read entire file into a RDD as single record.</a:t>
            </a:r>
          </a:p>
          <a:p>
            <a:r>
              <a:rPr lang="en-IN" dirty="0" err="1"/>
              <a:t>rdd</a:t>
            </a:r>
            <a:r>
              <a:rPr lang="en-IN" dirty="0"/>
              <a:t> = </a:t>
            </a:r>
            <a:r>
              <a:rPr lang="en-IN" dirty="0" err="1"/>
              <a:t>spark.sparkContext.wholeTextFiles</a:t>
            </a:r>
            <a:r>
              <a:rPr lang="en-IN" dirty="0"/>
              <a:t>("E://emp.csv")</a:t>
            </a:r>
          </a:p>
        </p:txBody>
      </p:sp>
    </p:spTree>
    <p:extLst>
      <p:ext uri="{BB962C8B-B14F-4D97-AF65-F5344CB8AC3E}">
        <p14:creationId xmlns:p14="http://schemas.microsoft.com/office/powerpoint/2010/main" val="3037883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FB04C-0C51-1642-0723-5E8E90B2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54" y="311727"/>
            <a:ext cx="9355440" cy="623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59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2664-1A7B-A9A5-2E4F-01BF96B7D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 get number of 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97D6B-6410-5828-30C3-29BC4645B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getNumPartitions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rdd.getNumPartitions()  =&gt; </a:t>
            </a:r>
            <a:r>
              <a:rPr lang="en-IN" b="1" dirty="0"/>
              <a:t>4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444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B986-A74F-9521-BCBC-FA083085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Repartition and Coalesce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8835E-B5D5-B8C6-1298-AC6129FDC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repartition the RDD, </a:t>
            </a:r>
            <a:r>
              <a:rPr lang="en-US" dirty="0" err="1"/>
              <a:t>PySpark</a:t>
            </a:r>
            <a:r>
              <a:rPr lang="en-US" dirty="0"/>
              <a:t> provides two ways to repartition </a:t>
            </a:r>
          </a:p>
          <a:p>
            <a:r>
              <a:rPr lang="en-US" dirty="0"/>
              <a:t>1. repartition() - </a:t>
            </a:r>
            <a:r>
              <a:rPr lang="en-US" sz="2400" dirty="0"/>
              <a:t>which shuffles data from all nodes also called full shuffle </a:t>
            </a:r>
            <a:endParaRPr lang="en-US" dirty="0"/>
          </a:p>
          <a:p>
            <a:r>
              <a:rPr lang="en-US" dirty="0"/>
              <a:t>2. coalesce() - </a:t>
            </a:r>
            <a:r>
              <a:rPr lang="en-US" sz="2400" dirty="0"/>
              <a:t>which shuffles data from minimum nodes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for examples if you have data in 4 partitions and doing </a:t>
            </a:r>
            <a:r>
              <a:rPr lang="en-US" sz="2400" b="1" dirty="0"/>
              <a:t>coalesce(2) </a:t>
            </a:r>
            <a:r>
              <a:rPr lang="en-US" sz="2400" dirty="0"/>
              <a:t>moves data </a:t>
            </a:r>
          </a:p>
          <a:p>
            <a:pPr marL="0" indent="0">
              <a:buNone/>
            </a:pPr>
            <a:r>
              <a:rPr lang="en-US" sz="2400" dirty="0"/>
              <a:t>from just 2 nodes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399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5ED7F-5071-CF1F-C613-3D5D2D9A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3DAD4-B91C-89AD-CDF3-11CB47D4B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068"/>
            <a:ext cx="10515600" cy="4351338"/>
          </a:xfrm>
        </p:spPr>
        <p:txBody>
          <a:bodyPr/>
          <a:lstStyle/>
          <a:p>
            <a:r>
              <a:rPr lang="en-IN" dirty="0" err="1"/>
              <a:t>reparRdd</a:t>
            </a:r>
            <a:r>
              <a:rPr lang="en-IN" dirty="0"/>
              <a:t> = </a:t>
            </a:r>
            <a:r>
              <a:rPr lang="en-IN" dirty="0" err="1"/>
              <a:t>rdd.repartition</a:t>
            </a:r>
            <a:r>
              <a:rPr lang="en-IN" dirty="0"/>
              <a:t>(4)</a:t>
            </a:r>
          </a:p>
          <a:p>
            <a:r>
              <a:rPr lang="en-IN" dirty="0"/>
              <a:t>print("re-partition count:"+str(reparRdd.getNumPartitions()))</a:t>
            </a:r>
          </a:p>
          <a:p>
            <a:r>
              <a:rPr lang="en-IN" dirty="0"/>
              <a:t># Outputs: </a:t>
            </a:r>
          </a:p>
          <a:p>
            <a:r>
              <a:rPr lang="en-IN" dirty="0"/>
              <a:t>re-partition count:4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22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695</Words>
  <Application>Microsoft Office PowerPoint</Application>
  <PresentationFormat>Widescreen</PresentationFormat>
  <Paragraphs>104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Google Sans</vt:lpstr>
      <vt:lpstr>Times New Roman</vt:lpstr>
      <vt:lpstr>var(--ff-lato)</vt:lpstr>
      <vt:lpstr>Office Theme</vt:lpstr>
      <vt:lpstr>Pyspark</vt:lpstr>
      <vt:lpstr>Apache Spark</vt:lpstr>
      <vt:lpstr>PySpark</vt:lpstr>
      <vt:lpstr>PowerPoint Presentation</vt:lpstr>
      <vt:lpstr>Features of PySpark</vt:lpstr>
      <vt:lpstr>Applications of PySpark</vt:lpstr>
      <vt:lpstr>How Spark works?</vt:lpstr>
      <vt:lpstr>PowerPoint Presentation</vt:lpstr>
      <vt:lpstr>PowerPoint Presentation</vt:lpstr>
      <vt:lpstr>PowerPoint Presentation</vt:lpstr>
      <vt:lpstr>PowerPoint Presentation</vt:lpstr>
      <vt:lpstr>Partitions </vt:lpstr>
      <vt:lpstr>PowerPoint Presentation</vt:lpstr>
      <vt:lpstr>Transformation </vt:lpstr>
      <vt:lpstr>Action</vt:lpstr>
      <vt:lpstr>Key Components of PySpark</vt:lpstr>
      <vt:lpstr>Spark Session</vt:lpstr>
      <vt:lpstr>Structured API - DataFrame</vt:lpstr>
      <vt:lpstr>Data Frame</vt:lpstr>
      <vt:lpstr>RDD</vt:lpstr>
      <vt:lpstr>PySpark – RDD </vt:lpstr>
      <vt:lpstr> To create a PySpark RDD</vt:lpstr>
      <vt:lpstr>PowerPoint Presentation</vt:lpstr>
      <vt:lpstr>To get number of partitions</vt:lpstr>
      <vt:lpstr>Repartition and Coalesce</vt:lpstr>
      <vt:lpstr>Repartition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Palani Karthikeyan</cp:lastModifiedBy>
  <cp:revision>12</cp:revision>
  <dcterms:created xsi:type="dcterms:W3CDTF">2024-10-24T13:41:00Z</dcterms:created>
  <dcterms:modified xsi:type="dcterms:W3CDTF">2026-03-20T11:19:01Z</dcterms:modified>
</cp:coreProperties>
</file>